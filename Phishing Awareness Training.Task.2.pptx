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1" r:id="rId3"/>
    <p:sldId id="259" r:id="rId4"/>
    <p:sldId id="260" r:id="rId5"/>
    <p:sldId id="262" r:id="rId6"/>
    <p:sldId id="263" r:id="rId7"/>
    <p:sldId id="264" r:id="rId8"/>
    <p:sldId id="265" r:id="rId9"/>
    <p:sldId id="272" r:id="rId10"/>
    <p:sldId id="273" r:id="rId11"/>
    <p:sldId id="274" r:id="rId12"/>
    <p:sldId id="275" r:id="rId13"/>
    <p:sldId id="276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Internship Edition</a:t>
            </a:r>
          </a:p>
          <a:p>
            <a:r>
              <a:t>By Sehrish</a:t>
            </a:r>
          </a:p>
        </p:txBody>
      </p:sp>
    </p:spTree>
    <p:extLst>
      <p:ext uri="{BB962C8B-B14F-4D97-AF65-F5344CB8AC3E}">
        <p14:creationId xmlns:p14="http://schemas.microsoft.com/office/powerpoint/2010/main" val="7763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Objectives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</a:t>
            </a:r>
            <a:r>
              <a:rPr lang="en-US" dirty="0"/>
              <a:t>what phishing is</a:t>
            </a:r>
          </a:p>
          <a:p>
            <a:pPr lvl="0"/>
            <a:r>
              <a:rPr lang="en-US" dirty="0"/>
              <a:t>Identify types of phishing</a:t>
            </a:r>
          </a:p>
          <a:p>
            <a:pPr lvl="0"/>
            <a:r>
              <a:rPr lang="en-US" dirty="0"/>
              <a:t>Learn common attacker techniques</a:t>
            </a:r>
          </a:p>
          <a:p>
            <a:pPr lvl="0"/>
            <a:r>
              <a:rPr lang="en-US" dirty="0"/>
              <a:t>Recognize phishing emails</a:t>
            </a:r>
          </a:p>
          <a:p>
            <a:pPr lvl="0"/>
            <a:r>
              <a:rPr lang="en-US" dirty="0"/>
              <a:t>Practice safe online habits</a:t>
            </a:r>
          </a:p>
          <a:p>
            <a:pPr lvl="0"/>
            <a:r>
              <a:rPr lang="en-US" dirty="0"/>
              <a:t>Complete a short phishing quiz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81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4110"/>
            <a:ext cx="8911687" cy="1280890"/>
          </a:xfrm>
        </p:spPr>
        <p:txBody>
          <a:bodyPr/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rPr dirty="0"/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358640"/>
          </a:xfrm>
        </p:spPr>
        <p:txBody>
          <a:bodyPr>
            <a:normAutofit/>
          </a:bodyPr>
          <a:lstStyle/>
          <a:p>
            <a:r>
              <a:rPr lang="en-US" sz="2400" dirty="0"/>
              <a:t>Phishing is a </a:t>
            </a:r>
            <a:r>
              <a:rPr lang="en-US" sz="2400" b="1" dirty="0"/>
              <a:t>social engineering attack</a:t>
            </a:r>
            <a:r>
              <a:rPr lang="en-US" sz="2400" dirty="0"/>
              <a:t> where cybercriminals disguise themselves as trusted individuals or organizations to steal sensitive information such as passwords, credit card numbers, financial account data, or personal identity details</a:t>
            </a:r>
            <a:endParaRPr sz="2400" dirty="0"/>
          </a:p>
          <a:p>
            <a:pPr>
              <a:defRPr sz="2400"/>
            </a:pPr>
            <a:r>
              <a:rPr sz="2400" dirty="0"/>
              <a:t>• Cyberattack using fake emails</a:t>
            </a:r>
          </a:p>
          <a:p>
            <a:pPr>
              <a:defRPr sz="2400"/>
            </a:pPr>
            <a:r>
              <a:rPr sz="2400" dirty="0"/>
              <a:t>• Steals passwords and data</a:t>
            </a:r>
          </a:p>
          <a:p>
            <a:pPr>
              <a:defRPr sz="2400"/>
            </a:pPr>
            <a:r>
              <a:rPr sz="2400" dirty="0"/>
              <a:t>• Looks like trusted </a:t>
            </a:r>
            <a:r>
              <a:rPr sz="2400" dirty="0" smtClean="0"/>
              <a:t>sources</a:t>
            </a:r>
            <a:endParaRPr lang="en-US" sz="2400" dirty="0" smtClean="0"/>
          </a:p>
          <a:p>
            <a:pPr>
              <a:defRPr sz="2400"/>
            </a:pPr>
            <a:r>
              <a:rPr lang="en-US" sz="2400" b="1" dirty="0"/>
              <a:t>Key Idea: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Phishing = </a:t>
            </a:r>
            <a:r>
              <a:rPr lang="en-US" sz="2400" b="1" dirty="0"/>
              <a:t>Deception + Human Manipulation</a:t>
            </a:r>
            <a:endParaRPr lang="en-US" sz="2400" dirty="0"/>
          </a:p>
          <a:p>
            <a:pPr>
              <a:defRPr sz="2400"/>
            </a:pPr>
            <a:endParaRPr lang="en-US" sz="2400" dirty="0" smtClean="0"/>
          </a:p>
          <a:p>
            <a:pPr marL="0" indent="0">
              <a:buNone/>
              <a:defRPr sz="24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568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rPr dirty="0"/>
              <a:t>Why Phishing Is Dangerous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2277291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/>
              <a:t>Phishing is considered </a:t>
            </a:r>
            <a:r>
              <a:rPr lang="en-US" sz="2000" b="1" dirty="0"/>
              <a:t>one of the most damaging cyber threats</a:t>
            </a:r>
            <a:r>
              <a:rPr lang="en-US" sz="2000" dirty="0"/>
              <a:t> because:</a:t>
            </a:r>
          </a:p>
          <a:p>
            <a:r>
              <a:rPr lang="en-US" sz="2000" dirty="0"/>
              <a:t>Targets human psychology</a:t>
            </a:r>
          </a:p>
          <a:p>
            <a:r>
              <a:rPr lang="en-US" sz="2000" dirty="0"/>
              <a:t>Leads to identity theft &amp; account </a:t>
            </a:r>
            <a:r>
              <a:rPr lang="en-US" sz="2000" dirty="0" smtClean="0"/>
              <a:t>takeover</a:t>
            </a:r>
          </a:p>
          <a:p>
            <a:r>
              <a:rPr lang="en-US" sz="2000" dirty="0"/>
              <a:t>Causes massive financial loss(</a:t>
            </a:r>
            <a:r>
              <a:rPr lang="en-US" sz="2000" b="1" dirty="0"/>
              <a:t>71% </a:t>
            </a:r>
            <a:r>
              <a:rPr lang="en-US" sz="2000" dirty="0"/>
              <a:t>of U.S. organizations experienced a successful phishing attack in </a:t>
            </a:r>
            <a:r>
              <a:rPr lang="en-US" sz="2000" b="1" dirty="0"/>
              <a:t>2023</a:t>
            </a:r>
            <a:r>
              <a:rPr lang="en-US" sz="2000" dirty="0" smtClean="0"/>
              <a:t>.)</a:t>
            </a:r>
          </a:p>
          <a:p>
            <a:r>
              <a:rPr lang="en-US" sz="2000" dirty="0"/>
              <a:t>Increasingly sophisticated (</a:t>
            </a:r>
            <a:r>
              <a:rPr lang="en-US" sz="2000" b="1" dirty="0"/>
              <a:t>AI</a:t>
            </a:r>
            <a:r>
              <a:rPr lang="en-US" sz="2000" dirty="0"/>
              <a:t> allows attackers to send grammatically correct, personalized emails with fake domains and cloned </a:t>
            </a:r>
            <a:r>
              <a:rPr lang="en-US" sz="2000" dirty="0" smtClean="0"/>
              <a:t>websites</a:t>
            </a:r>
            <a:r>
              <a:rPr lang="en-US" dirty="0" smtClean="0"/>
              <a:t>)</a:t>
            </a:r>
            <a:endParaRPr lang="en-US" b="1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127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506545"/>
            <a:ext cx="8911687" cy="1280890"/>
          </a:xfrm>
        </p:spPr>
        <p:txBody>
          <a:bodyPr/>
          <a:lstStyle/>
          <a:p>
            <a:r>
              <a:rPr dirty="0"/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787435"/>
            <a:ext cx="8915400" cy="4835433"/>
          </a:xfrm>
        </p:spPr>
        <p:txBody>
          <a:bodyPr>
            <a:normAutofit/>
          </a:bodyPr>
          <a:lstStyle/>
          <a:p>
            <a:r>
              <a:rPr b="1" dirty="0" smtClean="0"/>
              <a:t> </a:t>
            </a:r>
            <a:r>
              <a:rPr b="1" dirty="0"/>
              <a:t>Email </a:t>
            </a:r>
            <a:r>
              <a:rPr b="1" dirty="0" smtClean="0"/>
              <a:t>Phishing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Mass emails pretending to be companies (banks, retailers, services)</a:t>
            </a:r>
            <a:endParaRPr dirty="0"/>
          </a:p>
          <a:p>
            <a:r>
              <a:rPr dirty="0" smtClean="0"/>
              <a:t> </a:t>
            </a:r>
            <a:r>
              <a:rPr b="1" dirty="0"/>
              <a:t>Spear </a:t>
            </a:r>
            <a:r>
              <a:rPr b="1" dirty="0" smtClean="0"/>
              <a:t>Phishing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Targeted attack toward specific individuals using personal information</a:t>
            </a:r>
            <a:endParaRPr dirty="0"/>
          </a:p>
          <a:p>
            <a:r>
              <a:rPr dirty="0" smtClean="0"/>
              <a:t> </a:t>
            </a:r>
            <a:r>
              <a:rPr b="1" dirty="0" smtClean="0"/>
              <a:t>Whaling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Phishing targeted at CEOs, executives, finance managers.</a:t>
            </a:r>
            <a:endParaRPr dirty="0"/>
          </a:p>
          <a:p>
            <a:r>
              <a:rPr dirty="0" smtClean="0"/>
              <a:t> </a:t>
            </a:r>
            <a:r>
              <a:rPr b="1" dirty="0" err="1" smtClean="0"/>
              <a:t>Smishing</a:t>
            </a:r>
            <a:r>
              <a:rPr lang="en-US" b="1" dirty="0"/>
              <a:t>(SMS </a:t>
            </a:r>
            <a:r>
              <a:rPr lang="en-US" b="1" dirty="0" smtClean="0"/>
              <a:t>Phishing)</a:t>
            </a:r>
          </a:p>
          <a:p>
            <a:pPr marL="0" indent="0">
              <a:buNone/>
            </a:pPr>
            <a:r>
              <a:rPr lang="en-US" dirty="0" smtClean="0"/>
              <a:t>text </a:t>
            </a:r>
            <a:r>
              <a:rPr lang="en-US" dirty="0"/>
              <a:t>messages with links to malicious websites.</a:t>
            </a:r>
            <a:endParaRPr dirty="0"/>
          </a:p>
          <a:p>
            <a:r>
              <a:rPr dirty="0" smtClean="0"/>
              <a:t> </a:t>
            </a:r>
            <a:r>
              <a:rPr b="1" dirty="0" smtClean="0"/>
              <a:t>Vishing</a:t>
            </a:r>
            <a:r>
              <a:rPr lang="en-US" b="1" dirty="0"/>
              <a:t>(Voice </a:t>
            </a:r>
            <a:r>
              <a:rPr lang="en-US" b="1" dirty="0" smtClean="0"/>
              <a:t>Phishing)</a:t>
            </a:r>
          </a:p>
          <a:p>
            <a:pPr marL="0" indent="0">
              <a:buNone/>
            </a:pPr>
            <a:r>
              <a:rPr lang="en-US" dirty="0"/>
              <a:t>Phone calls pretending to be banks, IRS, or tech </a:t>
            </a:r>
            <a:r>
              <a:rPr lang="en-US" dirty="0" smtClean="0"/>
              <a:t>support</a:t>
            </a:r>
          </a:p>
          <a:p>
            <a:r>
              <a:rPr lang="en-US" b="1" dirty="0"/>
              <a:t>QR Code Phishing (</a:t>
            </a:r>
            <a:r>
              <a:rPr lang="en-US" b="1" dirty="0" err="1"/>
              <a:t>Quishing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/>
              <a:t>Fake QR codes redirecting to malware or credential-stealing sites.</a:t>
            </a:r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618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Recognize a Phishing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Suspicious Sender </a:t>
            </a:r>
            <a:r>
              <a:rPr lang="en-US" sz="2000" dirty="0" smtClean="0"/>
              <a:t>Address( Look for: misspelling, extra character </a:t>
            </a:r>
            <a:r>
              <a:rPr lang="en-US" sz="2000" dirty="0" err="1" smtClean="0"/>
              <a:t>etc</a:t>
            </a:r>
            <a:r>
              <a:rPr lang="en-US" sz="2000" dirty="0" smtClean="0"/>
              <a:t>)</a:t>
            </a:r>
          </a:p>
          <a:p>
            <a:r>
              <a:rPr lang="en-US" sz="2000" dirty="0"/>
              <a:t>Generic Greetings(“Dear User”, “Dear Customer</a:t>
            </a:r>
            <a:r>
              <a:rPr lang="en-US" sz="2000" dirty="0" smtClean="0"/>
              <a:t>”)</a:t>
            </a:r>
          </a:p>
          <a:p>
            <a:r>
              <a:rPr lang="en-US" sz="2000" dirty="0"/>
              <a:t>Urgency / Threats(“Your account will be blocked</a:t>
            </a:r>
            <a:r>
              <a:rPr lang="en-US" sz="2000" dirty="0" smtClean="0"/>
              <a:t>”)</a:t>
            </a:r>
          </a:p>
          <a:p>
            <a:r>
              <a:rPr lang="en-US" sz="2000" dirty="0"/>
              <a:t>Suspicious Links &amp; Attachments(Don’t download unknown </a:t>
            </a:r>
            <a:r>
              <a:rPr lang="en-US" sz="2000" dirty="0" smtClean="0"/>
              <a:t>attachments)</a:t>
            </a:r>
          </a:p>
          <a:p>
            <a:r>
              <a:rPr lang="en-US" sz="2000" dirty="0"/>
              <a:t>Requests for Personal </a:t>
            </a:r>
            <a:r>
              <a:rPr lang="en-US" sz="2000" dirty="0" smtClean="0"/>
              <a:t>Information</a:t>
            </a:r>
          </a:p>
          <a:p>
            <a:r>
              <a:rPr lang="en-US" sz="2000" dirty="0"/>
              <a:t>Grammar &amp; Spelling </a:t>
            </a:r>
            <a:r>
              <a:rPr lang="en-US" sz="2000" dirty="0" smtClean="0"/>
              <a:t>Errors</a:t>
            </a:r>
          </a:p>
          <a:p>
            <a:r>
              <a:rPr lang="en-US" sz="2000" dirty="0"/>
              <a:t>“Too Good to Be True” Offers(Free gifts, lotteries, discounts → usually </a:t>
            </a:r>
            <a:r>
              <a:rPr lang="en-US" sz="2000" dirty="0" smtClean="0"/>
              <a:t>scams)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86131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/>
              <a:t>Red flags of fake websites:</a:t>
            </a:r>
          </a:p>
          <a:p>
            <a:r>
              <a:rPr lang="en-US" sz="2000" dirty="0"/>
              <a:t>URL misspellings (amaz0n.com, paypa1.com)</a:t>
            </a:r>
          </a:p>
          <a:p>
            <a:r>
              <a:rPr lang="en-US" sz="2000" dirty="0"/>
              <a:t>No HTTPS / invalid certificate</a:t>
            </a:r>
          </a:p>
          <a:p>
            <a:r>
              <a:rPr lang="en-US" sz="2000" dirty="0"/>
              <a:t>Poor design or low-quality images</a:t>
            </a:r>
          </a:p>
          <a:p>
            <a:r>
              <a:rPr lang="en-US" sz="2000" dirty="0"/>
              <a:t>Slightly altered login pages</a:t>
            </a:r>
          </a:p>
          <a:p>
            <a:r>
              <a:rPr lang="en-US" sz="2000" dirty="0"/>
              <a:t>Asking for sensitive data unnecessarily</a:t>
            </a:r>
          </a:p>
          <a:p>
            <a:r>
              <a:rPr lang="en-US" sz="2000" b="1" dirty="0" smtClean="0"/>
              <a:t>Examples:</a:t>
            </a:r>
            <a:endParaRPr lang="en-US" sz="2000" b="1" dirty="0"/>
          </a:p>
          <a:p>
            <a:r>
              <a:rPr lang="en-US" sz="2000" dirty="0"/>
              <a:t>Fake Microsoft Teams login using altered domain</a:t>
            </a:r>
          </a:p>
          <a:p>
            <a:r>
              <a:rPr lang="en-US" sz="2000" dirty="0"/>
              <a:t>Fake Chase Bank login page mimicking real site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188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 Tricks Used by Attackers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63296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Impersonation</a:t>
            </a:r>
          </a:p>
          <a:p>
            <a:r>
              <a:rPr lang="en-US" dirty="0"/>
              <a:t>Pretending to be banks, CEOs, coworkers, customer support.</a:t>
            </a:r>
          </a:p>
          <a:p>
            <a:r>
              <a:rPr lang="en-US" b="1" dirty="0" smtClean="0"/>
              <a:t> </a:t>
            </a:r>
            <a:r>
              <a:rPr lang="en-US" b="1" dirty="0"/>
              <a:t>Authority Pressure</a:t>
            </a:r>
          </a:p>
          <a:p>
            <a:r>
              <a:rPr lang="en-US" dirty="0"/>
              <a:t>Fake CEO emails demanding payments.</a:t>
            </a:r>
          </a:p>
          <a:p>
            <a:r>
              <a:rPr lang="en-US" b="1" dirty="0" smtClean="0"/>
              <a:t> </a:t>
            </a:r>
            <a:r>
              <a:rPr lang="en-US" b="1" dirty="0"/>
              <a:t>Urgency &amp; Fear</a:t>
            </a:r>
          </a:p>
          <a:p>
            <a:r>
              <a:rPr lang="en-US" dirty="0"/>
              <a:t>“You have 30 minutes to verify your account.”</a:t>
            </a:r>
          </a:p>
          <a:p>
            <a:r>
              <a:rPr lang="en-US" b="1" dirty="0" smtClean="0"/>
              <a:t>Curiosity</a:t>
            </a:r>
            <a:endParaRPr lang="en-US" b="1" dirty="0"/>
          </a:p>
          <a:p>
            <a:r>
              <a:rPr lang="en-US" dirty="0"/>
              <a:t>“Your invoice is ready,” “Your parcel is waiting.”</a:t>
            </a:r>
          </a:p>
          <a:p>
            <a:r>
              <a:rPr lang="en-US" b="1" dirty="0" smtClean="0"/>
              <a:t> </a:t>
            </a:r>
            <a:r>
              <a:rPr lang="en-US" b="1" dirty="0"/>
              <a:t>Emotional Manipulation</a:t>
            </a:r>
          </a:p>
          <a:p>
            <a:r>
              <a:rPr lang="en-US" dirty="0"/>
              <a:t>Manipulating fear, trust, excitement, or panic.</a:t>
            </a:r>
          </a:p>
          <a:p>
            <a:r>
              <a:rPr lang="en-US" b="1" dirty="0" smtClean="0"/>
              <a:t>Personalization</a:t>
            </a:r>
            <a:endParaRPr lang="en-US" b="1" dirty="0"/>
          </a:p>
          <a:p>
            <a:r>
              <a:rPr lang="en-US" dirty="0"/>
              <a:t>Using leaked data to seem legitimate.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216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Phishing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 </a:t>
            </a:r>
            <a:r>
              <a:rPr lang="en-US" sz="2000" b="1" dirty="0"/>
              <a:t>Google &amp; Facebook $100 Million Scam</a:t>
            </a:r>
          </a:p>
          <a:p>
            <a:r>
              <a:rPr lang="en-US" sz="2000" dirty="0"/>
              <a:t>Fake invoices pretending to be a real supplier → paid millions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Elara Caring Healthcare Breach</a:t>
            </a:r>
          </a:p>
          <a:p>
            <a:r>
              <a:rPr lang="en-US" sz="2000" dirty="0" smtClean="0"/>
              <a:t>Only </a:t>
            </a:r>
            <a:r>
              <a:rPr lang="en-US" sz="2000" dirty="0"/>
              <a:t>2 compromised emails exposed data of 100,000+ patients.</a:t>
            </a:r>
          </a:p>
          <a:p>
            <a:r>
              <a:rPr lang="en-US" sz="2000" b="1" dirty="0" smtClean="0"/>
              <a:t> </a:t>
            </a:r>
            <a:r>
              <a:rPr lang="en-US" sz="2000" b="1" dirty="0"/>
              <a:t>Fake IRS Messages (2025)</a:t>
            </a:r>
          </a:p>
          <a:p>
            <a:r>
              <a:rPr lang="en-US" sz="2000" dirty="0"/>
              <a:t>Malicious attachments pretending to be tax documents.</a:t>
            </a:r>
          </a:p>
          <a:p>
            <a:r>
              <a:rPr lang="en-US" sz="2000" b="1" dirty="0"/>
              <a:t>Fake USPS Delivery Alerts (</a:t>
            </a:r>
            <a:r>
              <a:rPr lang="en-US" sz="2000" b="1" dirty="0" err="1"/>
              <a:t>Smishing</a:t>
            </a:r>
            <a:r>
              <a:rPr lang="en-US" sz="2000" b="1" dirty="0"/>
              <a:t>)</a:t>
            </a:r>
          </a:p>
          <a:p>
            <a:r>
              <a:rPr lang="en-US" sz="2000" dirty="0"/>
              <a:t>SMS links stole Google account credentials.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8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to Protect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Never click suspicious links</a:t>
            </a:r>
          </a:p>
          <a:p>
            <a:r>
              <a:rPr lang="en-US" dirty="0"/>
              <a:t>Always preview URLs.</a:t>
            </a:r>
          </a:p>
          <a:p>
            <a:r>
              <a:rPr lang="en-US" b="1" dirty="0" smtClean="0"/>
              <a:t> </a:t>
            </a:r>
            <a:r>
              <a:rPr lang="en-US" b="1" dirty="0"/>
              <a:t>Enable Multi-Factor Authentication (MFA)</a:t>
            </a:r>
          </a:p>
          <a:p>
            <a:r>
              <a:rPr lang="en-US" dirty="0"/>
              <a:t>Even stolen passwords become useless.</a:t>
            </a:r>
          </a:p>
          <a:p>
            <a:r>
              <a:rPr lang="en-US" b="1" dirty="0" smtClean="0"/>
              <a:t> </a:t>
            </a:r>
            <a:r>
              <a:rPr lang="en-US" b="1" dirty="0"/>
              <a:t>Keep your software &amp; antivirus updated</a:t>
            </a:r>
          </a:p>
          <a:p>
            <a:r>
              <a:rPr lang="en-US" b="1" dirty="0" smtClean="0"/>
              <a:t> </a:t>
            </a:r>
            <a:r>
              <a:rPr lang="en-US" b="1" dirty="0"/>
              <a:t>Don’t trust unexpected attachments</a:t>
            </a:r>
          </a:p>
          <a:p>
            <a:r>
              <a:rPr lang="en-US" b="1" dirty="0" smtClean="0"/>
              <a:t> </a:t>
            </a:r>
            <a:r>
              <a:rPr lang="en-US" b="1" dirty="0"/>
              <a:t>Verify sender identity through official channels</a:t>
            </a:r>
          </a:p>
          <a:p>
            <a:r>
              <a:rPr lang="en-US" b="1" dirty="0" smtClean="0"/>
              <a:t>Use </a:t>
            </a:r>
            <a:r>
              <a:rPr lang="en-US" b="1" dirty="0"/>
              <a:t>strong, unique passwords</a:t>
            </a:r>
          </a:p>
          <a:p>
            <a:r>
              <a:rPr lang="en-US" b="1" dirty="0" smtClean="0"/>
              <a:t>Backup </a:t>
            </a:r>
            <a:r>
              <a:rPr lang="en-US" b="1" dirty="0"/>
              <a:t>important data</a:t>
            </a:r>
          </a:p>
          <a:p>
            <a:r>
              <a:rPr lang="en-US" b="1" dirty="0" smtClean="0"/>
              <a:t> </a:t>
            </a:r>
            <a:r>
              <a:rPr lang="en-US" b="1" dirty="0"/>
              <a:t>Educate employees regularly</a:t>
            </a:r>
          </a:p>
          <a:p>
            <a:r>
              <a:rPr lang="en-US" dirty="0"/>
              <a:t>Training reduces phishing success rates drastically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89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Do If You Receive a Phishing 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Follow the </a:t>
            </a:r>
            <a:r>
              <a:rPr lang="en-US" sz="2000" b="1" dirty="0"/>
              <a:t>HEROIC</a:t>
            </a:r>
            <a:r>
              <a:rPr lang="en-US" sz="2000" dirty="0"/>
              <a:t> method:</a:t>
            </a:r>
          </a:p>
          <a:p>
            <a:r>
              <a:rPr lang="en-US" sz="2000" b="1" dirty="0"/>
              <a:t>H – Hold On</a:t>
            </a:r>
            <a:r>
              <a:rPr lang="en-US" sz="2000" dirty="0"/>
              <a:t>: Don’t click anything.</a:t>
            </a:r>
            <a:br>
              <a:rPr lang="en-US" sz="2000" dirty="0"/>
            </a:br>
            <a:r>
              <a:rPr lang="en-US" sz="2000" b="1" dirty="0"/>
              <a:t>E – Examine</a:t>
            </a:r>
            <a:r>
              <a:rPr lang="en-US" sz="2000" dirty="0"/>
              <a:t>: Look for red flags.</a:t>
            </a:r>
            <a:br>
              <a:rPr lang="en-US" sz="2000" dirty="0"/>
            </a:br>
            <a:r>
              <a:rPr lang="en-US" sz="2000" b="1" dirty="0"/>
              <a:t>R – Report</a:t>
            </a:r>
            <a:r>
              <a:rPr lang="en-US" sz="2000" dirty="0"/>
              <a:t>: To IT/Email provider.</a:t>
            </a:r>
            <a:br>
              <a:rPr lang="en-US" sz="2000" dirty="0"/>
            </a:br>
            <a:r>
              <a:rPr lang="en-US" sz="2000" b="1" dirty="0"/>
              <a:t>O – Obliterate</a:t>
            </a:r>
            <a:r>
              <a:rPr lang="en-US" sz="2000" dirty="0"/>
              <a:t>: Delete the email.</a:t>
            </a:r>
            <a:br>
              <a:rPr lang="en-US" sz="2000" dirty="0"/>
            </a:br>
            <a:r>
              <a:rPr lang="en-US" sz="2000" b="1" dirty="0"/>
              <a:t>I – Inform</a:t>
            </a:r>
            <a:r>
              <a:rPr lang="en-US" sz="2000" dirty="0"/>
              <a:t>: Warn others.</a:t>
            </a:r>
            <a:br>
              <a:rPr lang="en-US" sz="2000" dirty="0"/>
            </a:br>
            <a:r>
              <a:rPr lang="en-US" sz="2000" b="1" dirty="0"/>
              <a:t>C – Change Passwords</a:t>
            </a:r>
            <a:r>
              <a:rPr lang="en-US" sz="2000" dirty="0"/>
              <a:t>: If you interacted with the scam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8674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/>
              <a:t>Q1. What is a major red flag of phishing?</a:t>
            </a:r>
          </a:p>
          <a:p>
            <a:r>
              <a:rPr lang="en-US" sz="2000" dirty="0"/>
              <a:t>A) Perfect grammar</a:t>
            </a:r>
            <a:br>
              <a:rPr lang="en-US" sz="2000" dirty="0"/>
            </a:br>
            <a:r>
              <a:rPr lang="en-US" sz="2000" dirty="0"/>
              <a:t>B) Free prizes</a:t>
            </a:r>
            <a:br>
              <a:rPr lang="en-US" sz="2000" dirty="0"/>
            </a:br>
            <a:r>
              <a:rPr lang="en-US" sz="2000" dirty="0"/>
              <a:t>C) Official domain</a:t>
            </a:r>
            <a:br>
              <a:rPr lang="en-US" sz="2000" dirty="0"/>
            </a:br>
            <a:r>
              <a:rPr lang="en-US" sz="2000" b="1" dirty="0"/>
              <a:t>✔ Correct: B</a:t>
            </a:r>
            <a:endParaRPr lang="en-US" sz="2000" dirty="0"/>
          </a:p>
          <a:p>
            <a:r>
              <a:rPr lang="en-US" sz="2000" b="1" dirty="0"/>
              <a:t>Q2. What should you do when you receive an unexpected attachment?</a:t>
            </a:r>
          </a:p>
          <a:p>
            <a:r>
              <a:rPr lang="en-US" sz="2000" dirty="0"/>
              <a:t>A) Download immediately</a:t>
            </a:r>
            <a:br>
              <a:rPr lang="en-US" sz="2000" dirty="0"/>
            </a:br>
            <a:r>
              <a:rPr lang="en-US" sz="2000" dirty="0"/>
              <a:t>B) Ignore and delete</a:t>
            </a:r>
            <a:br>
              <a:rPr lang="en-US" sz="2000" dirty="0"/>
            </a:br>
            <a:r>
              <a:rPr lang="en-US" sz="2000" dirty="0"/>
              <a:t>C) Verify sender</a:t>
            </a:r>
            <a:br>
              <a:rPr lang="en-US" sz="2000" dirty="0"/>
            </a:br>
            <a:r>
              <a:rPr lang="en-US" sz="2000" b="1" dirty="0"/>
              <a:t>✔ Correct: C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076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Q3. Which of these is NOT a phishing technique?</a:t>
            </a:r>
          </a:p>
          <a:p>
            <a:r>
              <a:rPr lang="en-US" sz="2000" dirty="0"/>
              <a:t>A) Urgency</a:t>
            </a:r>
            <a:br>
              <a:rPr lang="en-US" sz="2000" dirty="0"/>
            </a:br>
            <a:r>
              <a:rPr lang="en-US" sz="2000" dirty="0"/>
              <a:t>B) Impersonation</a:t>
            </a:r>
            <a:br>
              <a:rPr lang="en-US" sz="2000" dirty="0"/>
            </a:br>
            <a:r>
              <a:rPr lang="en-US" sz="2000" dirty="0"/>
              <a:t>C) Two-factor authentication</a:t>
            </a:r>
            <a:br>
              <a:rPr lang="en-US" sz="2000" dirty="0"/>
            </a:br>
            <a:r>
              <a:rPr lang="en-US" sz="2000" b="1" dirty="0"/>
              <a:t>✔ Correct: C</a:t>
            </a:r>
            <a:endParaRPr lang="en-US" sz="2000" dirty="0"/>
          </a:p>
          <a:p>
            <a:r>
              <a:rPr lang="en-US" sz="2000" b="1" dirty="0"/>
              <a:t>Q4. Fake websites often have…</a:t>
            </a:r>
          </a:p>
          <a:p>
            <a:r>
              <a:rPr lang="en-US" sz="2000" dirty="0"/>
              <a:t>A) Wrong spellings in URL</a:t>
            </a:r>
            <a:br>
              <a:rPr lang="en-US" sz="2000" dirty="0"/>
            </a:br>
            <a:r>
              <a:rPr lang="en-US" sz="2000" dirty="0"/>
              <a:t>B) Verified certificates</a:t>
            </a:r>
            <a:br>
              <a:rPr lang="en-US" sz="2000" dirty="0"/>
            </a:br>
            <a:r>
              <a:rPr lang="en-US" sz="2000" dirty="0"/>
              <a:t>C) Government seal</a:t>
            </a:r>
            <a:br>
              <a:rPr lang="en-US" sz="2000" dirty="0"/>
            </a:br>
            <a:r>
              <a:rPr lang="en-US" sz="2000" b="1" dirty="0"/>
              <a:t>✔ Correct: A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773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Q5. Best protection against phishing?</a:t>
            </a:r>
          </a:p>
          <a:p>
            <a:r>
              <a:rPr lang="en-US" sz="2000" dirty="0"/>
              <a:t>A) Training</a:t>
            </a:r>
            <a:br>
              <a:rPr lang="en-US" sz="2000" dirty="0"/>
            </a:br>
            <a:r>
              <a:rPr lang="en-US" sz="2000" dirty="0"/>
              <a:t>B) Clicking fast</a:t>
            </a:r>
            <a:br>
              <a:rPr lang="en-US" sz="2000" dirty="0"/>
            </a:br>
            <a:r>
              <a:rPr lang="en-US" sz="2000" dirty="0"/>
              <a:t>C) Trusting all emails</a:t>
            </a:r>
            <a:br>
              <a:rPr lang="en-US" sz="2000" dirty="0"/>
            </a:br>
            <a:r>
              <a:rPr lang="en-US" sz="2000" b="1" dirty="0"/>
              <a:t>✔ Correct: </a:t>
            </a:r>
            <a:r>
              <a:rPr lang="en-US" sz="2000" b="1" dirty="0" smtClean="0"/>
              <a:t>A</a:t>
            </a:r>
          </a:p>
          <a:p>
            <a:r>
              <a:rPr lang="en-US" sz="2000" dirty="0"/>
              <a:t>What should you do first when you get a suspicious email?</a:t>
            </a:r>
            <a:br>
              <a:rPr lang="en-US" sz="2000" dirty="0"/>
            </a:br>
            <a:r>
              <a:rPr lang="en-US" sz="2000" dirty="0"/>
              <a:t>✔ </a:t>
            </a:r>
            <a:r>
              <a:rPr lang="en-US" sz="2000" b="1" dirty="0"/>
              <a:t>Do NOT click anything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073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Phishing is common, dangerous, and targets human error.</a:t>
            </a:r>
            <a:br>
              <a:rPr lang="en-US" sz="2000" dirty="0"/>
            </a:br>
            <a:r>
              <a:rPr lang="en-US" sz="2000" dirty="0"/>
              <a:t>With awareness and careful checking, you can avoid becoming a </a:t>
            </a:r>
            <a:r>
              <a:rPr lang="en-US" sz="2000" dirty="0" smtClean="0"/>
              <a:t>victim.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4000" b="1" dirty="0"/>
              <a:t>Thank </a:t>
            </a:r>
            <a:r>
              <a:rPr lang="en-US" sz="4000" b="1" dirty="0" smtClean="0"/>
              <a:t>You</a:t>
            </a:r>
          </a:p>
          <a:p>
            <a:pPr marL="0" indent="0" algn="ctr">
              <a:buNone/>
            </a:pPr>
            <a:r>
              <a:rPr lang="en-US" sz="2800" b="1" i="1" dirty="0"/>
              <a:t>Stay Safe. Stay Secure.</a:t>
            </a:r>
            <a:endParaRPr 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215153775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94</TotalTime>
  <Words>650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Phishing Awareness Training</vt:lpstr>
      <vt:lpstr>Training Objectives </vt:lpstr>
      <vt:lpstr>What Is Phishing?</vt:lpstr>
      <vt:lpstr>Why Phishing Is Dangerous</vt:lpstr>
      <vt:lpstr>Types of Phishing</vt:lpstr>
      <vt:lpstr>How to Recognize a Phishing Email</vt:lpstr>
      <vt:lpstr>How to Identify Fake Websites</vt:lpstr>
      <vt:lpstr>Social Engineering Tricks Used by Attackers</vt:lpstr>
      <vt:lpstr>Real-World Phishing Examples</vt:lpstr>
      <vt:lpstr>Best Practices to Protect Yourself</vt:lpstr>
      <vt:lpstr>What to Do If You Receive a Phishing Email</vt:lpstr>
      <vt:lpstr>Interactive Quiz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Sehrish</dc:creator>
  <cp:lastModifiedBy>Sehrish</cp:lastModifiedBy>
  <cp:revision>9</cp:revision>
  <dcterms:created xsi:type="dcterms:W3CDTF">2025-11-23T16:06:21Z</dcterms:created>
  <dcterms:modified xsi:type="dcterms:W3CDTF">2025-11-23T17:40:54Z</dcterms:modified>
</cp:coreProperties>
</file>